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остановка" id="{2cb9987b-b12a-5ca3-17e1-45e724812afe}">
          <p14:sldIdLst>
            <p14:sldId id="256"/>
            <p14:sldId id="257"/>
            <p14:sldId id="258"/>
          </p14:sldIdLst>
        </p14:section>
        <p14:section name="Реализация" id="{22725d54-92de-4870-626a-a30f3186e99c}">
          <p14:sldIdLst>
            <p14:sldId id="259"/>
            <p14:sldId id="260"/>
            <p14:sldId id="261"/>
          </p14:sldIdLst>
        </p14:section>
        <p14:section name="Результаты" id="{9a6ab7cb-ae3b-7580-3024-1e4a7c4f1198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Проект: учёт доходов и расходов студента на чистом PHP. Данные хранятся в JSON, фреймворков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Проблема, цель и целевые пользователи.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Основной сценарий: добавить операцию, увидеть её в журнале, отфильтровать, посмотреть сводку и остаток.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Браузер обращается к public/index.php. Маршрутизатор вызывает контроллеры, те используют функции из src/ и шаблоны. Хранилище работает с JSON вне публичного каталога.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array_filter отбирает операции нужного типа, array_reduce суммирует. Сумма хранится целым числом тиынов.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Сессия хранит CSRF-токен и flash-сообщения. Cookie содержит только идентификатор сессии (HttpOnly, SameSite=Lax).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живой запуск: php -S localhost:8000 -t public. Вставьте свои скриншоты в рамки справа.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Сценарии описаны в test-cases.md. Расскажите, какой тест нашёл ошибку и как вы её исправили.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Ограничения текущей версии и направления развития после изучения ООП и PDO.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53949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Трекер личных расходов студента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Программирование на PHP · СРО, вариант 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375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Оразбаев Махсуд · ИС 24-22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Преподаватель: Рашидинов Д.Р. · АТУ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GitHub: [ссылка на репозиторий]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097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 8.4+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чистый PHP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286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хранилище без СУБД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3474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фреймворков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Проблема и цель</a:t>
            </a:r>
            <a:endParaRPr lang="en-US" sz="3600" dirty="0"/>
          </a:p>
        </p:txBody>
      </p:sp>
      <p:sp>
        <p:nvSpPr>
          <p:cNvPr id="3" name="problem-card-0"/>
          <p:cNvSpPr/>
          <p:nvPr/>
        </p:nvSpPr>
        <p:spPr>
          <a:xfrm>
            <a:off x="457200" y="1234440"/>
            <a:ext cx="822960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oblem-icon-0-bg"/>
          <p:cNvSpPr/>
          <p:nvPr/>
        </p:nvSpPr>
        <p:spPr>
          <a:xfrm>
            <a:off x="685800" y="147218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problem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600200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4416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Проблема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70992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Студент не видит, на что уходит стипендия и где он выходит за бюджет.</a:t>
            </a:r>
            <a:endParaRPr lang="en-US" sz="1500" dirty="0"/>
          </a:p>
        </p:txBody>
      </p:sp>
      <p:sp>
        <p:nvSpPr>
          <p:cNvPr id="8" name="problem-card-1"/>
          <p:cNvSpPr/>
          <p:nvPr/>
        </p:nvSpPr>
        <p:spPr>
          <a:xfrm>
            <a:off x="457200" y="2350008"/>
            <a:ext cx="822960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roblem-icon-1-bg"/>
          <p:cNvSpPr/>
          <p:nvPr/>
        </p:nvSpPr>
        <p:spPr>
          <a:xfrm>
            <a:off x="685800" y="258775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problem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2715768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459736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Цель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282549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Веб-приложение учёта доходов и расходов по категориям с остатком средств.</a:t>
            </a:r>
            <a:endParaRPr lang="en-US" sz="1500" dirty="0"/>
          </a:p>
        </p:txBody>
      </p:sp>
      <p:sp>
        <p:nvSpPr>
          <p:cNvPr id="13" name="problem-card-2"/>
          <p:cNvSpPr/>
          <p:nvPr/>
        </p:nvSpPr>
        <p:spPr>
          <a:xfrm>
            <a:off x="457200" y="3465576"/>
            <a:ext cx="822960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roblem-icon-2-bg"/>
          <p:cNvSpPr/>
          <p:nvPr/>
        </p:nvSpPr>
        <p:spPr>
          <a:xfrm>
            <a:off x="685800" y="3703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problem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83133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575304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Пользователи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394106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Студенты: личный бюджет, один пользователь без регистрации.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Сценарии и требования</a:t>
            </a:r>
            <a:endParaRPr lang="en-US" sz="3600" dirty="0"/>
          </a:p>
        </p:txBody>
      </p:sp>
      <p:sp>
        <p:nvSpPr>
          <p:cNvPr id="3" name="scenario-card-0"/>
          <p:cNvSpPr/>
          <p:nvPr/>
        </p:nvSpPr>
        <p:spPr>
          <a:xfrm>
            <a:off x="457200" y="1188720"/>
            <a:ext cx="192024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cenario-num-0"/>
          <p:cNvSpPr/>
          <p:nvPr/>
        </p:nvSpPr>
        <p:spPr>
          <a:xfrm>
            <a:off x="594360" y="13258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533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Добавить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форма с проверкой</a:t>
            </a:r>
            <a:endParaRPr lang="en-US" sz="1400" dirty="0"/>
          </a:p>
        </p:txBody>
      </p:sp>
      <p:sp>
        <p:nvSpPr>
          <p:cNvPr id="8" name="scenario-card-1"/>
          <p:cNvSpPr/>
          <p:nvPr/>
        </p:nvSpPr>
        <p:spPr>
          <a:xfrm>
            <a:off x="2560320" y="1188720"/>
            <a:ext cx="192024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cenario-num-1"/>
          <p:cNvSpPr/>
          <p:nvPr/>
        </p:nvSpPr>
        <p:spPr>
          <a:xfrm>
            <a:off x="2697480" y="13258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13533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Журнал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операции и итоги</a:t>
            </a:r>
            <a:endParaRPr lang="en-US" sz="1400" dirty="0"/>
          </a:p>
        </p:txBody>
      </p:sp>
      <p:sp>
        <p:nvSpPr>
          <p:cNvPr id="13" name="scenario-card-2"/>
          <p:cNvSpPr/>
          <p:nvPr/>
        </p:nvSpPr>
        <p:spPr>
          <a:xfrm>
            <a:off x="4663440" y="1188720"/>
            <a:ext cx="192024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cenario-num-2"/>
          <p:cNvSpPr/>
          <p:nvPr/>
        </p:nvSpPr>
        <p:spPr>
          <a:xfrm>
            <a:off x="4800600" y="13258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13533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Фильтры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месяц и категория</a:t>
            </a:r>
            <a:endParaRPr lang="en-US" sz="1400" dirty="0"/>
          </a:p>
        </p:txBody>
      </p:sp>
      <p:sp>
        <p:nvSpPr>
          <p:cNvPr id="18" name="scenario-card-3"/>
          <p:cNvSpPr/>
          <p:nvPr/>
        </p:nvSpPr>
        <p:spPr>
          <a:xfrm>
            <a:off x="6766560" y="1188720"/>
            <a:ext cx="192024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cenario-num-3"/>
          <p:cNvSpPr/>
          <p:nvPr/>
        </p:nvSpPr>
        <p:spPr>
          <a:xfrm>
            <a:off x="6903720" y="13258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13533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Сводка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остаток и лимиты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697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Обязательные требования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0632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форма: сумма, дата, категория, комментарий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сумма больше нуля, дата в формате ГГГГ-ММ-ДД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фильтры по месяцу и категории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итоги: array_filter() и array_reduce()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данные хранятся в JSON</a:t>
            </a:r>
            <a:endParaRPr lang="en-US" sz="1400" dirty="0"/>
          </a:p>
        </p:txBody>
      </p:sp>
      <p:sp>
        <p:nvSpPr>
          <p:cNvPr id="25" name="advanced-card"/>
          <p:cNvSpPr/>
          <p:nvPr/>
        </p:nvSpPr>
        <p:spPr>
          <a:xfrm>
            <a:off x="5669280" y="2697480"/>
            <a:ext cx="30175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52160" y="2834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Повышенная сложность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852160" y="32461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Лимиты по категориям и предупреждение о превышении бюджета.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Структура и поток данных</a:t>
            </a:r>
            <a:endParaRPr lang="en-US" sz="3600" dirty="0"/>
          </a:p>
        </p:txBody>
      </p:sp>
      <p:sp>
        <p:nvSpPr>
          <p:cNvPr id="3" name="box-browser"/>
          <p:cNvSpPr/>
          <p:nvPr/>
        </p:nvSpPr>
        <p:spPr>
          <a:xfrm>
            <a:off x="457200" y="123444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1280160"/>
            <a:ext cx="140817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Браузер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668780"/>
            <a:ext cx="1408176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форма, GET/POST</a:t>
            </a:r>
            <a:endParaRPr lang="en-US" sz="1200" dirty="0"/>
          </a:p>
        </p:txBody>
      </p:sp>
      <p:sp>
        <p:nvSpPr>
          <p:cNvPr id="6" name="box-index"/>
          <p:cNvSpPr/>
          <p:nvPr/>
        </p:nvSpPr>
        <p:spPr>
          <a:xfrm>
            <a:off x="2514600" y="123444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87752" y="1280160"/>
            <a:ext cx="168249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index.php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587752" y="1668780"/>
            <a:ext cx="1682496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route()</a:t>
            </a:r>
            <a:endParaRPr lang="en-US" sz="1200" dirty="0"/>
          </a:p>
        </p:txBody>
      </p:sp>
      <p:sp>
        <p:nvSpPr>
          <p:cNvPr id="9" name="box-controllers"/>
          <p:cNvSpPr/>
          <p:nvPr/>
        </p:nvSpPr>
        <p:spPr>
          <a:xfrm>
            <a:off x="4846320" y="123444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19472" y="1280160"/>
            <a:ext cx="168249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19472" y="1668780"/>
            <a:ext cx="1682496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страницы и POST</a:t>
            </a:r>
            <a:endParaRPr lang="en-US" sz="1200" dirty="0"/>
          </a:p>
        </p:txBody>
      </p:sp>
      <p:sp>
        <p:nvSpPr>
          <p:cNvPr id="12" name="box-templates"/>
          <p:cNvSpPr/>
          <p:nvPr/>
        </p:nvSpPr>
        <p:spPr>
          <a:xfrm>
            <a:off x="7178040" y="1234440"/>
            <a:ext cx="1508760" cy="868680"/>
          </a:xfrm>
          <a:prstGeom prst="roundRect">
            <a:avLst>
              <a:gd name="adj" fmla="val 842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51192" y="1280160"/>
            <a:ext cx="136245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251192" y="1668780"/>
            <a:ext cx="1362456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HTML + h()</a:t>
            </a:r>
            <a:endParaRPr lang="en-US" sz="1200" dirty="0"/>
          </a:p>
        </p:txBody>
      </p:sp>
      <p:sp>
        <p:nvSpPr>
          <p:cNvPr id="15" name="arrow-1"/>
          <p:cNvSpPr/>
          <p:nvPr/>
        </p:nvSpPr>
        <p:spPr>
          <a:xfrm>
            <a:off x="2011680" y="1664208"/>
            <a:ext cx="5029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arrow-2"/>
          <p:cNvSpPr/>
          <p:nvPr/>
        </p:nvSpPr>
        <p:spPr>
          <a:xfrm>
            <a:off x="4343400" y="1664208"/>
            <a:ext cx="5029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arrow-3"/>
          <p:cNvSpPr/>
          <p:nvPr/>
        </p:nvSpPr>
        <p:spPr>
          <a:xfrm>
            <a:off x="6675120" y="1664208"/>
            <a:ext cx="5029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src-container"/>
          <p:cNvSpPr/>
          <p:nvPr/>
        </p:nvSpPr>
        <p:spPr>
          <a:xfrm>
            <a:off x="457200" y="2606040"/>
            <a:ext cx="8229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src/ — функции с типами (strict_types)</a:t>
            </a:r>
            <a:endParaRPr lang="en-US" sz="1300" dirty="0"/>
          </a:p>
        </p:txBody>
      </p:sp>
      <p:sp>
        <p:nvSpPr>
          <p:cNvPr id="20" name="box-src-0"/>
          <p:cNvSpPr/>
          <p:nvPr/>
        </p:nvSpPr>
        <p:spPr>
          <a:xfrm>
            <a:off x="640080" y="2971800"/>
            <a:ext cx="246888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017520"/>
            <a:ext cx="232257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validation.php</a:t>
            </a:r>
            <a:endParaRPr lang="en-US" sz="1300" dirty="0"/>
          </a:p>
        </p:txBody>
      </p:sp>
      <p:sp>
        <p:nvSpPr>
          <p:cNvPr id="22" name="box-src-1"/>
          <p:cNvSpPr/>
          <p:nvPr/>
        </p:nvSpPr>
        <p:spPr>
          <a:xfrm>
            <a:off x="3337560" y="2971800"/>
            <a:ext cx="246888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10712" y="3017520"/>
            <a:ext cx="232257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transactions.php</a:t>
            </a:r>
            <a:endParaRPr lang="en-US" sz="1300" dirty="0"/>
          </a:p>
        </p:txBody>
      </p:sp>
      <p:sp>
        <p:nvSpPr>
          <p:cNvPr id="24" name="box-src-2"/>
          <p:cNvSpPr/>
          <p:nvPr/>
        </p:nvSpPr>
        <p:spPr>
          <a:xfrm>
            <a:off x="6035040" y="2971800"/>
            <a:ext cx="246888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08192" y="3017520"/>
            <a:ext cx="232257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security.php</a:t>
            </a:r>
            <a:endParaRPr lang="en-US" sz="1300" dirty="0"/>
          </a:p>
        </p:txBody>
      </p:sp>
      <p:sp>
        <p:nvSpPr>
          <p:cNvPr id="26" name="arrow-4"/>
          <p:cNvSpPr/>
          <p:nvPr/>
        </p:nvSpPr>
        <p:spPr>
          <a:xfrm>
            <a:off x="5760720" y="2103120"/>
            <a:ext cx="0" cy="50292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7" name="box-storage"/>
          <p:cNvSpPr/>
          <p:nvPr/>
        </p:nvSpPr>
        <p:spPr>
          <a:xfrm>
            <a:off x="822960" y="3977640"/>
            <a:ext cx="219456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6112" y="402336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storage.php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" y="4297680"/>
            <a:ext cx="204825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flock + rename</a:t>
            </a:r>
            <a:endParaRPr lang="en-US" sz="1200" dirty="0"/>
          </a:p>
        </p:txBody>
      </p:sp>
      <p:sp>
        <p:nvSpPr>
          <p:cNvPr id="30" name="box-json"/>
          <p:cNvSpPr/>
          <p:nvPr/>
        </p:nvSpPr>
        <p:spPr>
          <a:xfrm>
            <a:off x="3840480" y="3977640"/>
            <a:ext cx="310896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913632" y="402336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var/data/*.json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913632" y="4297680"/>
            <a:ext cx="296265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вне public/</a:t>
            </a:r>
            <a:endParaRPr lang="en-US" sz="1200" dirty="0"/>
          </a:p>
        </p:txBody>
      </p:sp>
      <p:sp>
        <p:nvSpPr>
          <p:cNvPr id="33" name="arrow-5"/>
          <p:cNvSpPr/>
          <p:nvPr/>
        </p:nvSpPr>
        <p:spPr>
          <a:xfrm>
            <a:off x="1920240" y="3566160"/>
            <a:ext cx="0" cy="4114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4" name="arrow-6"/>
          <p:cNvSpPr/>
          <p:nvPr/>
        </p:nvSpPr>
        <p:spPr>
          <a:xfrm>
            <a:off x="3017520" y="4297680"/>
            <a:ext cx="82296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Ключевые функции PHP</a:t>
            </a:r>
            <a:endParaRPr lang="en-US" sz="3600" dirty="0"/>
          </a:p>
        </p:txBody>
      </p:sp>
      <p:sp>
        <p:nvSpPr>
          <p:cNvPr id="3" name="code-card"/>
          <p:cNvSpPr/>
          <p:nvPr/>
        </p:nvSpPr>
        <p:spPr>
          <a:xfrm>
            <a:off x="457200" y="1188720"/>
            <a:ext cx="5212080" cy="342900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sumByType(array $items, string $type): 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$selected = array_filter($items,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fn (array $t): bool =&gt; $t['type'] === $type);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array_reduce($selected,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fn (int $s, array $t): int =&gt; $s + $t['amount'],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func-icon-0-bg"/>
          <p:cNvSpPr/>
          <p:nvPr/>
        </p:nvSpPr>
        <p:spPr>
          <a:xfrm>
            <a:off x="5943600" y="1234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func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1616" y="1362456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629400" y="1188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strict_types и типы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629400" y="15179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везде declare(strict_types=1)</a:t>
            </a:r>
            <a:endParaRPr lang="en-US" sz="1200" dirty="0"/>
          </a:p>
        </p:txBody>
      </p:sp>
      <p:sp>
        <p:nvSpPr>
          <p:cNvPr id="9" name="func-icon-1-bg"/>
          <p:cNvSpPr/>
          <p:nvPr/>
        </p:nvSpPr>
        <p:spPr>
          <a:xfrm>
            <a:off x="5943600" y="21031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func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616" y="223113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2940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Сумма в тиынах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629400" y="238658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int вместо float, без ошибок округления</a:t>
            </a:r>
            <a:endParaRPr lang="en-US" sz="1200" dirty="0"/>
          </a:p>
        </p:txBody>
      </p:sp>
      <p:sp>
        <p:nvSpPr>
          <p:cNvPr id="13" name="func-icon-2-bg"/>
          <p:cNvSpPr/>
          <p:nvPr/>
        </p:nvSpPr>
        <p:spPr>
          <a:xfrm>
            <a:off x="5943600" y="2971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func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16" y="309981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2940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parseDate()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6629400" y="325526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DateTimeImmutable, строгий формат</a:t>
            </a:r>
            <a:endParaRPr lang="en-US" sz="1200" dirty="0"/>
          </a:p>
        </p:txBody>
      </p:sp>
      <p:sp>
        <p:nvSpPr>
          <p:cNvPr id="17" name="func-icon-3-bg"/>
          <p:cNvSpPr/>
          <p:nvPr/>
        </p:nvSpPr>
        <p:spPr>
          <a:xfrm>
            <a:off x="5943600" y="3840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func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16" y="3968496"/>
            <a:ext cx="246888" cy="24688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29400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preg_match, usort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6629400" y="412394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разбор суммы и сортировка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Валидация и безопасность</a:t>
            </a:r>
            <a:endParaRPr lang="en-US" sz="3600" dirty="0"/>
          </a:p>
        </p:txBody>
      </p:sp>
      <p:graphicFrame>
        <p:nvGraphicFramePr>
          <p:cNvPr id="7" name="securit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Риск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Мера в проекте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Некорректный ввод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нормализация, проверка типа, белые списки, сумма &gt; 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XSS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htmlspecialchars() на каждом выводе (функция h())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CSRF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токен в сессии, hash_equals(), только POST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Повторная отправка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Post/Redirect/Get после успешного POST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Гонка записи JSON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flock() и атомарная замена файла (rename)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Сбои и утечки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StorageException, display_errors=0, общий текст ошибки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Демонстрация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Основной сценарий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добавить расход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увидеть его в журнале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отфильтровать по месяцу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открыть сводку и остаток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Ошибочный сценарий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сумма 0 и дата в будущем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превышение лимита категории</a:t>
            </a:r>
            <a:endParaRPr lang="en-US" sz="1400" dirty="0"/>
          </a:p>
        </p:txBody>
      </p:sp>
      <p:sp>
        <p:nvSpPr>
          <p:cNvPr id="4" name="screenshot-frame-0"/>
          <p:cNvSpPr/>
          <p:nvPr/>
        </p:nvSpPr>
        <p:spPr>
          <a:xfrm>
            <a:off x="4114800" y="1188720"/>
            <a:ext cx="2194560" cy="338328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4251960" y="2468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Скриншот: журнал операций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(замените на свой скриншот)</a:t>
            </a:r>
            <a:endParaRPr lang="en-US" sz="1400" dirty="0"/>
          </a:p>
        </p:txBody>
      </p:sp>
      <p:sp>
        <p:nvSpPr>
          <p:cNvPr id="6" name="screenshot-frame-1"/>
          <p:cNvSpPr/>
          <p:nvPr/>
        </p:nvSpPr>
        <p:spPr>
          <a:xfrm>
            <a:off x="6446520" y="1188720"/>
            <a:ext cx="2194560" cy="338328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583680" y="2468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Скриншот: сводка и лимиты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(замените на свой скриншот)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Тестирование</a:t>
            </a:r>
            <a:endParaRPr lang="en-US" sz="3600" dirty="0"/>
          </a:p>
        </p:txBody>
      </p:sp>
      <p:sp>
        <p:nvSpPr>
          <p:cNvPr id="3" name="test-chip-0"/>
          <p:cNvSpPr/>
          <p:nvPr/>
        </p:nvSpPr>
        <p:spPr>
          <a:xfrm>
            <a:off x="457200" y="1188720"/>
            <a:ext cx="402336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Обычный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331720" y="11887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корректный ввод</a:t>
            </a:r>
            <a:endParaRPr lang="en-US" sz="1300" dirty="0"/>
          </a:p>
        </p:txBody>
      </p:sp>
      <p:sp>
        <p:nvSpPr>
          <p:cNvPr id="6" name="test-chip-1"/>
          <p:cNvSpPr/>
          <p:nvPr/>
        </p:nvSpPr>
        <p:spPr>
          <a:xfrm>
            <a:off x="4663440" y="1188720"/>
            <a:ext cx="402336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188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Пустые значения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11887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пустая форма, пробелы</a:t>
            </a:r>
            <a:endParaRPr lang="en-US" sz="1300" dirty="0"/>
          </a:p>
        </p:txBody>
      </p:sp>
      <p:sp>
        <p:nvSpPr>
          <p:cNvPr id="9" name="test-chip-2"/>
          <p:cNvSpPr/>
          <p:nvPr/>
        </p:nvSpPr>
        <p:spPr>
          <a:xfrm>
            <a:off x="457200" y="1828800"/>
            <a:ext cx="402336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Граничные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18288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0, 0,01, 200/201 символ</a:t>
            </a:r>
            <a:endParaRPr lang="en-US" sz="1300" dirty="0"/>
          </a:p>
        </p:txBody>
      </p:sp>
      <p:sp>
        <p:nvSpPr>
          <p:cNvPr id="12" name="test-chip-3"/>
          <p:cNvSpPr/>
          <p:nvPr/>
        </p:nvSpPr>
        <p:spPr>
          <a:xfrm>
            <a:off x="4663440" y="1828800"/>
            <a:ext cx="402336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Некорректный тип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18288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массив, 2026-02-31</a:t>
            </a:r>
            <a:endParaRPr lang="en-US" sz="1300" dirty="0"/>
          </a:p>
        </p:txBody>
      </p:sp>
      <p:sp>
        <p:nvSpPr>
          <p:cNvPr id="15" name="test-chip-4"/>
          <p:cNvSpPr/>
          <p:nvPr/>
        </p:nvSpPr>
        <p:spPr>
          <a:xfrm>
            <a:off x="457200" y="2468880"/>
            <a:ext cx="402336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468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Повторная отправка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331720" y="2468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F5 после PRG</a:t>
            </a:r>
            <a:endParaRPr lang="en-US" sz="1300" dirty="0"/>
          </a:p>
        </p:txBody>
      </p:sp>
      <p:sp>
        <p:nvSpPr>
          <p:cNvPr id="18" name="test-chip-5"/>
          <p:cNvSpPr/>
          <p:nvPr/>
        </p:nvSpPr>
        <p:spPr>
          <a:xfrm>
            <a:off x="4663440" y="2468880"/>
            <a:ext cx="402336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2468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Доступ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468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GET на delete → 405</a:t>
            </a:r>
            <a:endParaRPr lang="en-US" sz="1300" dirty="0"/>
          </a:p>
        </p:txBody>
      </p:sp>
      <p:sp>
        <p:nvSpPr>
          <p:cNvPr id="21" name="test-chip-6"/>
          <p:cNvSpPr/>
          <p:nvPr/>
        </p:nvSpPr>
        <p:spPr>
          <a:xfrm>
            <a:off x="457200" y="3108960"/>
            <a:ext cx="402336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108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CSRF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331720" y="31089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нет токена → 403</a:t>
            </a:r>
            <a:endParaRPr lang="en-US" sz="1300" dirty="0"/>
          </a:p>
        </p:txBody>
      </p:sp>
      <p:sp>
        <p:nvSpPr>
          <p:cNvPr id="24" name="test-chip-7"/>
          <p:cNvSpPr/>
          <p:nvPr/>
        </p:nvSpPr>
        <p:spPr>
          <a:xfrm>
            <a:off x="4663440" y="3108960"/>
            <a:ext cx="402336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108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Хранилище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31089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битый JSON, нет каталога</a:t>
            </a:r>
            <a:endParaRPr lang="en-US" sz="1300" dirty="0"/>
          </a:p>
        </p:txBody>
      </p:sp>
      <p:sp>
        <p:nvSpPr>
          <p:cNvPr id="27" name="run-chip"/>
          <p:cNvSpPr/>
          <p:nvPr/>
        </p:nvSpPr>
        <p:spPr>
          <a:xfrm>
            <a:off x="457200" y="3840480"/>
            <a:ext cx="310896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tests/run.php</a:t>
            </a:r>
            <a:endParaRPr lang="en-US" sz="1600" dirty="0"/>
          </a:p>
        </p:txBody>
      </p:sp>
      <p:sp>
        <p:nvSpPr>
          <p:cNvPr id="29" name="bugs-card"/>
          <p:cNvSpPr/>
          <p:nvPr/>
        </p:nvSpPr>
        <p:spPr>
          <a:xfrm>
            <a:off x="3749040" y="3840480"/>
            <a:ext cx="49377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886200" y="38404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Найденные ошибки и исправления: [заполните по своему тестированию]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Ограничения и развитие</a:t>
            </a:r>
            <a:endParaRPr lang="en-US" sz="3600" dirty="0"/>
          </a:p>
        </p:txBody>
      </p:sp>
      <p:sp>
        <p:nvSpPr>
          <p:cNvPr id="3" name="col-card-0"/>
          <p:cNvSpPr/>
          <p:nvPr/>
        </p:nvSpPr>
        <p:spPr>
          <a:xfrm>
            <a:off x="457200" y="1188720"/>
            <a:ext cx="402336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Ограничения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один пользователь, без входа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нет редактирования операций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JSON подходит для малых объёмов</a:t>
            </a:r>
            <a:endParaRPr lang="en-US" sz="1500" dirty="0"/>
          </a:p>
        </p:txBody>
      </p:sp>
      <p:sp>
        <p:nvSpPr>
          <p:cNvPr id="6" name="col-card-1"/>
          <p:cNvSpPr/>
          <p:nvPr/>
        </p:nvSpPr>
        <p:spPr>
          <a:xfrm>
            <a:off x="4663440" y="1188720"/>
            <a:ext cx="402336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Развитие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288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ООП и PDO, SQLite или MySQL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авторизация и роли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экспорт в JSON и CSV, графики</a:t>
            </a:r>
            <a:endParaRPr lang="en-US" sz="1500" dirty="0"/>
          </a:p>
        </p:txBody>
      </p:sp>
      <p:sp>
        <p:nvSpPr>
          <p:cNvPr id="9" name="final-icon-bg"/>
          <p:cNvSpPr/>
          <p:nvPr/>
        </p:nvSpPr>
        <p:spPr>
          <a:xfrm>
            <a:off x="457200" y="3611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final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739896"/>
            <a:ext cx="246888" cy="24688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43000" y="361188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Вывод: требования варианта 12 и лимиты категорий реализованы.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4206240"/>
            <a:ext cx="7543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GitHub: [ссылка на репозиторий]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penseTracker">
  <a:themeElements>
    <a:clrScheme name="ExpenseTracker">
      <a:dk1>
        <a:srgbClr val="191F45"/>
      </a:dk1>
      <a:lt1>
        <a:srgbClr val="FFFFFF"/>
      </a:lt1>
      <a:dk2>
        <a:srgbClr val="4F5BD5"/>
      </a:dk2>
      <a:lt2>
        <a:srgbClr val="EEF0FA"/>
      </a:lt2>
      <a:accent1>
        <a:srgbClr val="F5A524"/>
      </a:accent1>
      <a:accent2>
        <a:srgbClr val="4F5BD5"/>
      </a:accent2>
      <a:accent3>
        <a:srgbClr val="6B7280"/>
      </a:accent3>
      <a:accent4>
        <a:srgbClr val="DC2626"/>
      </a:accent4>
      <a:accent5>
        <a:srgbClr val="0E9F8E"/>
      </a:accent5>
      <a:accent6>
        <a:srgbClr val="475569"/>
      </a:accent6>
      <a:hlink>
        <a:srgbClr val="4F5BD5"/>
      </a:hlink>
      <a:folHlink>
        <a:srgbClr val="6B7280"/>
      </a:folHlink>
    </a:clrScheme>
    <a:fontScheme name="ExpenseTrack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Трекер личных расходов студента (PHP)</dc:title>
  <dc:subject>PptxGenJS Presentation</dc:subject>
  <dc:creator>Оразбаев Махсуд</dc:creator>
  <cp:lastModifiedBy>Оразбаев Махсуд</cp:lastModifiedBy>
  <cp:revision>1</cp:revision>
  <dcterms:created xsi:type="dcterms:W3CDTF">2026-10-19T02:49:35Z</dcterms:created>
  <dcterms:modified xsi:type="dcterms:W3CDTF">2026-10-19T02:49:35Z</dcterms:modified>
</cp:coreProperties>
</file>